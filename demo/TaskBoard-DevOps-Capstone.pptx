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embeddedFontLst>
    <p:embeddedFont>
      <p:font typeface="Barlow Condensed Bold"/>
      <p:regular r:id="rId201314"/>
    </p:embeddedFont>
    <p:embeddedFont>
      <p:font typeface="IBM Plex Mono Medium"/>
      <p:regular r:id="rId201315"/>
    </p:embeddedFont>
    <p:embeddedFont>
      <p:font typeface="IBM Plex Mono SemiBold"/>
      <p:regular r:id="rId201316"/>
    </p:embeddedFont>
    <p:embeddedFont>
      <p:font typeface="Source Sans 3"/>
      <p:regular r:id="rId201317"/>
    </p:embeddedFont>
    <p:embeddedFont>
      <p:font typeface="Source Sans 3 SemiBold"/>
      <p:regular r:id="rId201318"/>
    </p:embeddedFont>
    <p:embeddedFont>
      <p:font typeface="Source Sans 3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71C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103485"/>
            <a:ext cx="6095848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600" b="1" spc="-132" kern="100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TaskBoard</a:t>
            </a:r>
            <a:endParaRPr lang="en-US" sz="6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600" b="1" spc="-132" kern="100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DevOps Capstone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09585" y="3891657"/>
            <a:ext cx="6095848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FastAPI and PostgreSQL to CI/CD, Kubernetes, security scanning, and observability on Minikube.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4678859"/>
            <a:ext cx="6705432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0" kern="100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Neeshant Ahire · Roll No: 10635 · Batch 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888782"/>
            <a:ext cx="4063898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TaskBoard is a full delivery system, not just a task app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06390" y="2594273"/>
            <a:ext cx="4063898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Enterprise-style task management platform demonstrating the complete DevOps lifecycle.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90" y="3324721"/>
            <a:ext cx="4063898" cy="2690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 backend with a responsive frontend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 persistence and tested API behavior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 images, GitHub Actions automation, and Trivy scanning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Helm-driven Kubernetes deployment on a local Minikube cluster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Prometheus and Grafana for operational visibility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70" y="304800"/>
            <a:ext cx="6705432" cy="6248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776069"/>
            <a:ext cx="4673483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Architecture &amp; local development connect the layers cleanly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04792" y="2481560"/>
            <a:ext cx="4673483" cy="110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 exposes task and health endpoints; the frontend runs through Vite; PostgreSQL stores task state; Docker Compose gives a repeatable local environment.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792" y="3764657"/>
            <a:ext cx="4673483" cy="2362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Backend: modular FastAPI endpoints with /health, /ready, /api/tasks, and /metrics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Frontend: responsive TaskBoard UI with task creation and status views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Database: PostgreSQL with a task schema designed for CRUD workflows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Containerization: separate backend and frontend images with production-ready Dockerfiles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0" y="304800"/>
            <a:ext cx="6299042" cy="6248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30929"/>
            <a:ext cx="11582110" cy="31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Database and tests establish a reliable baseline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792" y="691432"/>
            <a:ext cx="11886903" cy="132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9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Schema creation and automated tests validate the application before container images are promoted.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04792" y="1111746"/>
            <a:ext cx="5562461" cy="58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91000"/>
              </a:lnSpc>
              <a:buSzPct val="100000"/>
              <a:buChar char="•"/>
            </a:pPr>
            <a:r>
              <a:rPr lang="en-US" sz="9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tasks table: id, title, description, and status</a:t>
            </a:r>
            <a:endParaRPr lang="en-US" sz="950" dirty="0"/>
          </a:p>
          <a:p>
            <a:pPr algn="l" marL="193040" indent="-193040">
              <a:lnSpc>
                <a:spcPct val="91000"/>
              </a:lnSpc>
              <a:buSzPct val="100000"/>
              <a:buChar char="•"/>
            </a:pPr>
            <a:r>
              <a:rPr lang="en-US" sz="9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Sample record inserted for the final demo workflow</a:t>
            </a:r>
            <a:endParaRPr lang="en-US" sz="950" dirty="0"/>
          </a:p>
          <a:p>
            <a:pPr algn="l" marL="193040" indent="-193040">
              <a:lnSpc>
                <a:spcPct val="91000"/>
              </a:lnSpc>
              <a:buSzPct val="100000"/>
              <a:buChar char="•"/>
            </a:pPr>
            <a:r>
              <a:rPr lang="en-US" sz="9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pytest suite completed with 11 passed and 1 warning in 0.65s</a:t>
            </a:r>
            <a:endParaRPr lang="en-US" sz="950" dirty="0"/>
          </a:p>
          <a:p>
            <a:pPr algn="l" marL="193040" indent="-193040">
              <a:lnSpc>
                <a:spcPct val="91000"/>
              </a:lnSpc>
              <a:buSzPct val="100000"/>
              <a:buChar char="•"/>
            </a:pPr>
            <a:r>
              <a:rPr lang="en-US" sz="9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Coverage includes health, readiness, CRUD, status updates, not-found behavior, and stats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036" y="1111746"/>
            <a:ext cx="5105272" cy="55223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TESTS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Pytest run: 11 passed, 1 warning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50520"/>
            <a:ext cx="4673483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CI/CD turns every push into a delivery checkpoint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04792" y="2056011"/>
            <a:ext cx="4673483" cy="82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GitHub Actions workflow chains validation, image creation, security scanning, registry publishing, and Kubernetes deployment.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792" y="3062784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4792" y="3347244"/>
            <a:ext cx="21842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6" name="Text 4"/>
          <p:cNvSpPr/>
          <p:nvPr/>
        </p:nvSpPr>
        <p:spPr>
          <a:xfrm>
            <a:off x="304792" y="3445669"/>
            <a:ext cx="2184345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 backend and frontend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793930" y="3062784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93930" y="3347244"/>
            <a:ext cx="21842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9" name="Text 7"/>
          <p:cNvSpPr/>
          <p:nvPr/>
        </p:nvSpPr>
        <p:spPr>
          <a:xfrm>
            <a:off x="2793930" y="3445669"/>
            <a:ext cx="2184345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Docker images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04792" y="4443710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792" y="4728170"/>
            <a:ext cx="21842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2" name="Text 10"/>
          <p:cNvSpPr/>
          <p:nvPr/>
        </p:nvSpPr>
        <p:spPr>
          <a:xfrm>
            <a:off x="304792" y="4826595"/>
            <a:ext cx="2184345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Scan with Trivy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793930" y="4443710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93930" y="4728170"/>
            <a:ext cx="2184246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5" name="Text 13"/>
          <p:cNvSpPr/>
          <p:nvPr/>
        </p:nvSpPr>
        <p:spPr>
          <a:xfrm>
            <a:off x="2793930" y="4826595"/>
            <a:ext cx="2184345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Push images to Docker Hub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04792" y="5824637"/>
            <a:ext cx="81813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2857D6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4792" y="6109097"/>
            <a:ext cx="4673483" cy="19050"/>
          </a:xfrm>
          <a:prstGeom prst="rect">
            <a:avLst/>
          </a:prstGeom>
          <a:solidFill>
            <a:srgbClr val="2857D6"/>
          </a:solidFill>
          <a:ln/>
        </p:spPr>
      </p:sp>
      <p:sp>
        <p:nvSpPr>
          <p:cNvPr id="18" name="Text 16"/>
          <p:cNvSpPr/>
          <p:nvPr/>
        </p:nvSpPr>
        <p:spPr>
          <a:xfrm>
            <a:off x="304792" y="6207522"/>
            <a:ext cx="467348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to Kubernetes</a:t>
            </a:r>
            <a:endParaRPr lang="en-US" sz="2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0" y="304800"/>
            <a:ext cx="6299042" cy="624939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115893"/>
            <a:ext cx="4876678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Security scanning makes image risk visible before release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06390" y="2821384"/>
            <a:ext cx="4876678" cy="82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Trivy scans the backend image for OS package vulnerabilities, language-package issues, and embedded secrets.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90" y="3828157"/>
            <a:ext cx="1767736" cy="145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Scan command: </a:t>
            </a:r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highlight>
                  <a:srgbClr val="EEF2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trivy image taskboard_assignment-backend:latest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31215" y="3828157"/>
            <a:ext cx="2651753" cy="1985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Reports surface severity, affected library, installed version, and fixed version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Findings become an actionable hardening backlog rather than a hidden production risk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250" y="304800"/>
            <a:ext cx="5892653" cy="6248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TRIVY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Trivy scan report 2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TRIVY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Trivy scan report 3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052393"/>
            <a:ext cx="4673483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Helm packages the application for Kubernetes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04792" y="2757884"/>
            <a:ext cx="467348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TaskBoard chart turns the application stack into repeatable, declarative deployment configuration.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792" y="3488333"/>
            <a:ext cx="4673483" cy="2362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helm upgrade --install taskboard ./helm/taskboard -n taskboard --create-namespace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PostgreSQL, backend, and frontend run together in the taskboard namespace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Helm revisions and rollout restarts support fast iteration during development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Monitoring is installed separately through kube-prometheus-stack in monitoring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0" y="304800"/>
            <a:ext cx="6299042" cy="6248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HELM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Helm upgrade, rollout and service checks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1052393"/>
            <a:ext cx="5283068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Observability closes the loop from deployment to insight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06390" y="2757884"/>
            <a:ext cx="5283068" cy="82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Prometheus scrapes targets and Grafana turns cluster telemetry into an operational view of CPU, memory, namespaces, and workloads.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90" y="3764657"/>
            <a:ext cx="5283068" cy="208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kube-prometheus-stack deployed into the monitoring namespace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Minikube image loading resolved upstream pull constraints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Prometheus target health verified through port-forwarding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Grafana dashboards expose cluster and namespace-level resource behavior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640" y="304800"/>
            <a:ext cx="5486263" cy="6248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OBSERVABILITY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Prometheus port-forward and image setup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OBSERVABILITY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Grafana access via terminal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OBSERVABILITY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Grafana compute resources dashboard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OBSERVABILITY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Ideal dashboard target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849193"/>
            <a:ext cx="4673483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Registry, ingress, and troubleshooting make the system usable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04792" y="2554684"/>
            <a:ext cx="4673483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Delivery is only complete when images are accessible, routes resolve, and failure modes are understood.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792" y="3285133"/>
            <a:ext cx="4673483" cy="115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 Hub repositories and tags verified for backend and frontend images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Ingress and port-forwarding provide paths into internal services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792" y="4898430"/>
            <a:ext cx="4673483" cy="115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Terminal diagnostics exposed image pull backoffs, invalid image names, and namespace issues</a:t>
            </a:r>
            <a:endParaRPr lang="en-US" sz="1600" dirty="0"/>
          </a:p>
          <a:p>
            <a:pPr algn="l" marL="325120" indent="-325120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 access was corrected by using the taskboard database user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0" y="304800"/>
            <a:ext cx="6299042" cy="6248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REGISTRY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 Hub registry: repository tags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REGISTRY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 Hub registry: tag digests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INGRESS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Ingress and port-forwarding paths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terminal: live API requests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21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FRONTEND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 terminal: Vite dev server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22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TROUBLESHOOTING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Terminal diagnostics and database fix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23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13531"/>
            <a:ext cx="1188690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spc="88" kern="100" dirty="0">
                <a:solidFill>
                  <a:srgbClr val="2857D6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EVIDENCE ·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4792" y="558800"/>
            <a:ext cx="1158211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Swagger API docs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905470"/>
            <a:ext cx="11582110" cy="5647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75920"/>
            <a:ext cx="1137891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171C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delivery artifact is ready to carry forward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06390" y="1045170"/>
            <a:ext cx="11785305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TaskBoard demonstrates a practical DevOps loop: build, test, scan, ship, deploy, observe, and improve.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1621929"/>
            <a:ext cx="11378915" cy="1340445"/>
          </a:xfrm>
          <a:prstGeom prst="roundRect">
            <a:avLst>
              <a:gd name="adj" fmla="val 2274"/>
            </a:avLst>
          </a:prstGeom>
          <a:solidFill>
            <a:srgbClr val="2857D6"/>
          </a:solidFill>
          <a:ln w="25399">
            <a:solidFill>
              <a:srgbClr val="417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0383" y="1875929"/>
            <a:ext cx="10870928" cy="406400"/>
          </a:xfrm>
          <a:prstGeom prst="roundRect">
            <a:avLst>
              <a:gd name="adj" fmla="val 15000"/>
            </a:avLst>
          </a:prstGeom>
          <a:solidFill>
            <a:srgbClr val="2857D6"/>
          </a:solidFill>
          <a:ln/>
        </p:spPr>
      </p:sp>
      <p:sp>
        <p:nvSpPr>
          <p:cNvPr id="6" name="Text 4"/>
          <p:cNvSpPr/>
          <p:nvPr/>
        </p:nvSpPr>
        <p:spPr>
          <a:xfrm>
            <a:off x="6017665" y="1926729"/>
            <a:ext cx="765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0383" y="2361704"/>
            <a:ext cx="1087092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 presentation deliverable: TaskBoard_Capstone_Presentation.pptx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06390" y="3267174"/>
            <a:ext cx="11378915" cy="1340445"/>
          </a:xfrm>
          <a:prstGeom prst="roundRect">
            <a:avLst>
              <a:gd name="adj" fmla="val 2274"/>
            </a:avLst>
          </a:prstGeom>
          <a:solidFill>
            <a:srgbClr val="EEF2F4"/>
          </a:solidFill>
          <a:ln w="25399">
            <a:solidFill>
              <a:srgbClr val="4170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0383" y="3521174"/>
            <a:ext cx="10870928" cy="406400"/>
          </a:xfrm>
          <a:prstGeom prst="roundRect">
            <a:avLst>
              <a:gd name="adj" fmla="val 15000"/>
            </a:avLst>
          </a:prstGeom>
          <a:solidFill>
            <a:srgbClr val="2857D6"/>
          </a:solidFill>
          <a:ln/>
        </p:spPr>
      </p:sp>
      <p:sp>
        <p:nvSpPr>
          <p:cNvPr id="10" name="Text 8"/>
          <p:cNvSpPr/>
          <p:nvPr/>
        </p:nvSpPr>
        <p:spPr>
          <a:xfrm>
            <a:off x="6017665" y="3571974"/>
            <a:ext cx="765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0383" y="4006949"/>
            <a:ext cx="1087092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Project evidence is captured from the working application, terminals, dashboards, and registry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06390" y="4912420"/>
            <a:ext cx="11378915" cy="1340445"/>
          </a:xfrm>
          <a:prstGeom prst="roundRect">
            <a:avLst>
              <a:gd name="adj" fmla="val 2274"/>
            </a:avLst>
          </a:prstGeom>
          <a:solidFill>
            <a:srgbClr val="0B7D6F"/>
          </a:solidFill>
          <a:ln w="25399">
            <a:solidFill>
              <a:srgbClr val="417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0383" y="5166420"/>
            <a:ext cx="10870928" cy="406400"/>
          </a:xfrm>
          <a:prstGeom prst="roundRect">
            <a:avLst>
              <a:gd name="adj" fmla="val 15000"/>
            </a:avLst>
          </a:prstGeom>
          <a:solidFill>
            <a:srgbClr val="2857D6"/>
          </a:solidFill>
          <a:ln/>
        </p:spPr>
      </p:sp>
      <p:sp>
        <p:nvSpPr>
          <p:cNvPr id="14" name="Text 12"/>
          <p:cNvSpPr/>
          <p:nvPr/>
        </p:nvSpPr>
        <p:spPr>
          <a:xfrm>
            <a:off x="6017665" y="5217220"/>
            <a:ext cx="765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0383" y="5652195"/>
            <a:ext cx="1087092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 step: use the same pipeline to promote hardened images beyond Minikube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754350" y="61714"/>
            <a:ext cx="43734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171C2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2026-10-17T20:03:42Z</dcterms:created>
  <dcterms:modified xsi:type="dcterms:W3CDTF">2026-10-17T20:03:42Z</dcterms:modified>
</cp:coreProperties>
</file>